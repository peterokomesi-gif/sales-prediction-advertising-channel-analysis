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0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 Campaigns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Low</c:v>
                </c:pt>
                <c:pt idx="1">
                  <c:v>Q2</c:v>
                </c:pt>
                <c:pt idx="2">
                  <c:v>Q3</c:v>
                </c:pt>
                <c:pt idx="3">
                  <c:v>Q4 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8.39</c:v>
                </c:pt>
                <c:pt idx="1">
                  <c:v>12.69</c:v>
                </c:pt>
                <c:pt idx="2">
                  <c:v>16.55</c:v>
                </c:pt>
                <c:pt idx="3">
                  <c:v>18.47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C6-4507-B75E-79CB03EE85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Radio Campaigns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Low</c:v>
                </c:pt>
                <c:pt idx="1">
                  <c:v>Q2</c:v>
                </c:pt>
                <c:pt idx="2">
                  <c:v>Q3</c:v>
                </c:pt>
                <c:pt idx="3">
                  <c:v>Q4 High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10.47</c:v>
                </c:pt>
                <c:pt idx="1">
                  <c:v>12.41</c:v>
                </c:pt>
                <c:pt idx="2">
                  <c:v>15.62</c:v>
                </c:pt>
                <c:pt idx="3">
                  <c:v>17.59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6-4507-B75E-79CB03EE8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Spend Quartile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Avg Sales (000 units)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units per $1,000 spend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E5-4BF1-8BAA-0EE844E61CC2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E5-4BF1-8BAA-0EE844E61CC2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E5-4BF1-8BAA-0EE844E61C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Radio</c:v>
                </c:pt>
                <c:pt idx="1">
                  <c:v>TV</c:v>
                </c:pt>
                <c:pt idx="2">
                  <c:v>Newspaper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189</c:v>
                </c:pt>
                <c:pt idx="1">
                  <c:v>46</c:v>
                </c:pt>
                <c:pt idx="2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CE5-4BF1-8BAA-0EE844E61C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Sales Units per $1K Extra Spend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Sales (000 units)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A5-4D42-9E67-22715A44CE7F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A5-4D42-9E67-22715A44CE7F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A5-4D42-9E67-22715A44CE7F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A5-4D42-9E67-22715A44CE7F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A5-4D42-9E67-22715A44CE7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TV-Heavy</c:v>
                </c:pt>
                <c:pt idx="1">
                  <c:v>Radio Focus</c:v>
                </c:pt>
                <c:pt idx="2">
                  <c:v>Balanced</c:v>
                </c:pt>
                <c:pt idx="3">
                  <c:v>Base (Report)</c:v>
                </c:pt>
                <c:pt idx="4">
                  <c:v>Print-Heavy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16.7</c:v>
                </c:pt>
                <c:pt idx="1">
                  <c:v>15.5</c:v>
                </c:pt>
                <c:pt idx="2">
                  <c:v>19.5</c:v>
                </c:pt>
                <c:pt idx="3">
                  <c:v>23.7</c:v>
                </c:pt>
                <c:pt idx="4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A5-4D42-9E67-22715A44CE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BC5-4168-B4A0-5EDF7B736697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C5-4168-B4A0-5EDF7B736697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C5-4168-B4A0-5EDF7B73669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BC5-4168-B4A0-5EDF7B73669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BC5-4168-B4A0-5EDF7B73669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BC5-4168-B4A0-5EDF7B73669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TV (60.6%)</c:v>
                </c:pt>
                <c:pt idx="1">
                  <c:v>Radio (33.3%)</c:v>
                </c:pt>
                <c:pt idx="2">
                  <c:v>Newspaper (6.1%)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60.6</c:v>
                </c:pt>
                <c:pt idx="1">
                  <c:v>33.299999999999997</c:v>
                </c:pt>
                <c:pt idx="2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C5-4168-B4A0-5EDF7B736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74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474720"/>
            <a:ext cx="2560320" cy="166878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502920"/>
            <a:ext cx="23774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DATA SCIENCE INTERNSHIP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31520" y="98755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&amp;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Channel Analysis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26334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Patterns, Trends &amp; Policy Insights from 200 Campaign Records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66751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375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Okomesi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Student ID: CA/DF1/69331  |  Task 4 – Python Sales Prediction  |  June 2026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31920"/>
            <a:ext cx="384048" cy="384048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931920"/>
            <a:ext cx="384048" cy="384048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3931920"/>
            <a:ext cx="384048" cy="384048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393192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Regression  ·  EDA  ·  Forecasting  ·  Policy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66928" cy="100584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566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216152"/>
            <a:ext cx="347472" cy="347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61288" y="1216152"/>
            <a:ext cx="3474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21615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2344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0020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records, 4 variables — TV, Radio, Newspaper, Sales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920" y="237744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2920" y="2377440"/>
            <a:ext cx="566928" cy="100584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2377440"/>
            <a:ext cx="566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2450592"/>
            <a:ext cx="347472" cy="3474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161288" y="2450592"/>
            <a:ext cx="3474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245059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24688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&amp; EDA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0020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scatter analysis &amp; quartile trends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361188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02920" y="3611880"/>
            <a:ext cx="566928" cy="100584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3611880"/>
            <a:ext cx="566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3685032"/>
            <a:ext cx="347472" cy="34747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161288" y="3685032"/>
            <a:ext cx="3474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3685032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00200" y="3703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600200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training, evaluation, coefficients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800600" y="114300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800600" y="1143000"/>
            <a:ext cx="566928" cy="100584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800600" y="1143000"/>
            <a:ext cx="566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1216152"/>
            <a:ext cx="347472" cy="34747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458968" y="1216152"/>
            <a:ext cx="3474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1216152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897880" y="12344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589788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scenarios and sensitivity analysis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800600" y="237744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4800600" y="2377440"/>
            <a:ext cx="566928" cy="100584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4800600" y="2377440"/>
            <a:ext cx="566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2450592"/>
            <a:ext cx="347472" cy="34747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5458968" y="2450592"/>
            <a:ext cx="3474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2450592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897880" y="24688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Insights</a:t>
            </a:r>
            <a:endParaRPr lang="en-US" sz="1300" dirty="0"/>
          </a:p>
        </p:txBody>
      </p:sp>
      <p:sp>
        <p:nvSpPr>
          <p:cNvPr id="44" name="Text 32"/>
          <p:cNvSpPr/>
          <p:nvPr/>
        </p:nvSpPr>
        <p:spPr>
          <a:xfrm>
            <a:off x="589788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social implications for media investment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4800600" y="361188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4800600" y="3611880"/>
            <a:ext cx="566928" cy="100584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4800600" y="3611880"/>
            <a:ext cx="566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8968" y="3685032"/>
            <a:ext cx="347472" cy="347472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5458968" y="3685032"/>
            <a:ext cx="34747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8968" y="3685032"/>
            <a:ext cx="347472" cy="34747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897880" y="3703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2" name="Text 38"/>
          <p:cNvSpPr/>
          <p:nvPr/>
        </p:nvSpPr>
        <p:spPr>
          <a:xfrm>
            <a:off x="5897880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framework and strategic priorities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9202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5156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61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1714500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Campaigns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87752" y="1051560"/>
            <a:ext cx="19202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1051560"/>
            <a:ext cx="1920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161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87752" y="1714500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predictors + Sales)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1051560"/>
            <a:ext cx="19202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05156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161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72584" y="1714500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 Dataset)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7416" y="1051560"/>
            <a:ext cx="19202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57416" y="105156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7416" y="1161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57416" y="1714500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3408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Definitions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15768"/>
          <a:ext cx="8321040" cy="2103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Television advertising expenditure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$0.70 – $296.40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advertising expenditure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 – $49.60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Print/newspaper advertising expenditure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$0.30 – $114.00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units sold (target variable)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 – 27.00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78992"/>
          <a:ext cx="83210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($000s)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($000s)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Newspaper ($000s)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(000 units)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63931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4005072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3986784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highest variability (std=$85.85K), ranging from near-zero to $296.4K — very unequal investment across campaigns.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325112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4306824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is the most budget-constrained channel (max $49.6K) yet delivers outsized impact per dollar spent.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645152"/>
            <a:ext cx="201168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4626864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spending reaches $114K (2× Radio max) but contributes the weakest sales lift of all three channels.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Correlations with Sales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2724912" cy="34747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97280"/>
            <a:ext cx="2724912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9616" y="1234440"/>
            <a:ext cx="731520" cy="7315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13258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0574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" y="24231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0.78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" y="29443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273552"/>
            <a:ext cx="22677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273552"/>
            <a:ext cx="1768815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4472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703320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 — clear linear relationship with sales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83280" y="1097280"/>
            <a:ext cx="2724912" cy="34747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83280" y="1097280"/>
            <a:ext cx="272491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79976" y="123444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325880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74720" y="20574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3474720" y="24231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0.58</a:t>
            </a:r>
            <a:endParaRPr lang="en-US" sz="3200" dirty="0"/>
          </a:p>
        </p:txBody>
      </p:sp>
      <p:sp>
        <p:nvSpPr>
          <p:cNvPr id="24" name="Text 20"/>
          <p:cNvSpPr/>
          <p:nvPr/>
        </p:nvSpPr>
        <p:spPr>
          <a:xfrm>
            <a:off x="3474720" y="29443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611880" y="3273552"/>
            <a:ext cx="22677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611880" y="3273552"/>
            <a:ext cx="1315273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0" y="34472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520440" y="3703320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channel — highest ROI per dollar spent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263640" y="1097280"/>
            <a:ext cx="2724912" cy="347472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263640" y="1097280"/>
            <a:ext cx="27249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260336" y="12344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1325880"/>
            <a:ext cx="548640" cy="5486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55080" y="205740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6355080" y="24231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0.23</a:t>
            </a:r>
            <a:endParaRPr lang="en-US" sz="3200" dirty="0"/>
          </a:p>
        </p:txBody>
      </p:sp>
      <p:sp>
        <p:nvSpPr>
          <p:cNvPr id="35" name="Text 30"/>
          <p:cNvSpPr/>
          <p:nvPr/>
        </p:nvSpPr>
        <p:spPr>
          <a:xfrm>
            <a:off x="6355080" y="29443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492240" y="3273552"/>
            <a:ext cx="22677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92240" y="3273552"/>
            <a:ext cx="52157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55080" y="34472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400800" y="3703320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effect — negative coefficient in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by Spend Quartile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05156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143000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26480" y="114300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3441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720840" y="1618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TV: Sales lift from Q1→Q4 low-to-high spend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2331720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2331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53288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2423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720840" y="2807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Sales lift from Q1→Q4 quartile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26480" y="3520440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3520440"/>
            <a:ext cx="50292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372160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24.4K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720840" y="39959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average when BOTH TV &amp; Radio are in Q4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126480" y="4663440"/>
            <a:ext cx="2697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4663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Synergy: TV + Radio Q4 → 24,370 avg units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8321040" cy="6858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 =  2.94  +  (0.0458 × TV)  +  (0.1885 × Radio)  +  (−0.001 × Newspaper)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633472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74520"/>
            <a:ext cx="263347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84248"/>
            <a:ext cx="2633472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2920" y="2643530"/>
            <a:ext cx="2633472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 of sales variance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the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33472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3347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84248"/>
            <a:ext cx="2633472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1.46K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291840" y="2643530"/>
            <a:ext cx="2633472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per campaign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2633472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874520"/>
            <a:ext cx="2633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984248"/>
            <a:ext cx="2633472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1.78K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080760" y="2643530"/>
            <a:ext cx="2633472" cy="5038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(units)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337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Setup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675888"/>
            <a:ext cx="406908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67588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 Linear Regression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087368"/>
            <a:ext cx="406908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08736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samples (80%)  |  random_state = 42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3675888"/>
            <a:ext cx="406908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67588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samples (20%)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4087368"/>
            <a:ext cx="406908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4087368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Radio, Newspaper advertising spend ($000s)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IMPACT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Coefficients &amp; Channel ROI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051560"/>
          <a:ext cx="50292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806440" y="1115568"/>
            <a:ext cx="3017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115568"/>
            <a:ext cx="594360" cy="107899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316736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1188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92240" y="15087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Coefficient: 0.1885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92240" y="175564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+189 units per additional $1K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06440" y="2029968"/>
            <a:ext cx="301752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06440" y="20299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806440" y="2350008"/>
            <a:ext cx="3017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06440" y="2350008"/>
            <a:ext cx="594360" cy="107899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2551176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92240" y="27432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Coefficient: 0.0458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92240" y="29900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 units per additional $1K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806440" y="3264408"/>
            <a:ext cx="301752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806440" y="3264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REACH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806440" y="3584448"/>
            <a:ext cx="3017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806440" y="3584448"/>
            <a:ext cx="594360" cy="1078992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378561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9224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492240" y="3977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Coefficient: −0.001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492240" y="422452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/ negative return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806440" y="4498848"/>
            <a:ext cx="3017520" cy="1645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806440" y="44988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Prediction &amp; Sensitivity Analysis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3840480" cy="18745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5156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Campaign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554480"/>
            <a:ext cx="0" cy="96012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97480" y="2084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predicted</a:t>
            </a:r>
            <a:endParaRPr lang="en-US" sz="11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26280" y="1051560"/>
          <a:ext cx="4297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4434840" y="38404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0.899  |  MAE = 1,460 units  |  RMSE = 1,780 units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3401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Insight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37490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3730752"/>
            <a:ext cx="8019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Print-heavy campaigns (low TV/Radio) consistently predict ~9,200 units — the worst outcome.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409651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4078224"/>
            <a:ext cx="8019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scenario (TV=$250K + Radio=$50K) predicts 23,700 units — top 15% of the dataset.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44398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4425696"/>
            <a:ext cx="8019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$330K balanced TV+Radio budget optimally outperforms single-channel investment at equivalent spend.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INSIGHTS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Social Policy Implications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4069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24128"/>
            <a:ext cx="54864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225296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225296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6152" y="1161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Media Strategy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" y="1773936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budget-constrained businesses (esp. in emerging markets like Ghana), Radio offers the highest ROI per dollar — accessible and impactful without large TV budgets.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1024128"/>
            <a:ext cx="4069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024128"/>
            <a:ext cx="54864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65192" y="1225296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22529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13832" y="1161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Campaigns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65192" y="1773936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health, education, and awareness campaigns relying primarily on Newspaper should shift spend toward Radio and TV to maximise citizen reach.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2852928"/>
            <a:ext cx="4069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2852928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7512" y="3054096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054096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16152" y="2990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Media Decline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67512" y="3602736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Newspaper's near-zero coefficient reflects global print readership decline. Regulators should anticipate structural revenue loss and develop transition frameworks.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800600" y="2852928"/>
            <a:ext cx="4069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2852928"/>
            <a:ext cx="54864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65192" y="3054096"/>
            <a:ext cx="457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054096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13832" y="2990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ROI Accountability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965192" y="3602736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CFOs and finance teams should adopt regression-based ROI proxies for media budget reviews rather than relying on historical spend patterns or industry norms alone.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&amp; Strategic Priorities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078992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206240" y="1097280"/>
            <a:ext cx="4617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097280"/>
            <a:ext cx="73152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5968" y="1298448"/>
            <a:ext cx="530352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34416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TV (60% budget)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drives volume and reach. Allocate ~$200K of a $330K budget. Its synergy with Radio delivers peak performance (24.4K avg units).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06240" y="2359152"/>
            <a:ext cx="4617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06240" y="2359152"/>
            <a:ext cx="73152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15968" y="256032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260604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83480" y="2450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Radio for ROI (33%)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83480" y="28163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~$110K. Radio yields the highest return per $1K spent (0.1885 coefficient) — the most efficient channel available.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206240" y="3621024"/>
            <a:ext cx="46177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06240" y="3621024"/>
            <a:ext cx="73152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315968" y="382219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3867912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83480" y="3712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Newspaper (≤7%)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83480" y="40782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a minimal ~$20K or eliminate. Reallocate savings to TV or Radio. Newspaper provides negligible return in this dataset.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21762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(r=0.78) is the strongest correlate; high TV spend consistently drives sales volume.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26791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delivers the best ROI per dollar (coefficient = 0.1885 vs TV's 0.0458).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31821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spend has negligible value — reallocate to higher-performing channels.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36850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TV + Radio Q4 spend generates 24,370 avg units — a 120% uplift over low-spend.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4128" y="41879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model (R²=0.899) is a reliable forecasting tool for future campaigns.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11480" y="4754880"/>
            <a:ext cx="690372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02920" y="4754880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Okomesi  |  CA/DF1/69331  |  CodeAlpha Data Science Internship  |  Task 4  |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1004</Words>
  <Application>Microsoft Office PowerPoint</Application>
  <PresentationFormat>On-screen Show (16:9)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Prediction &amp; Advertising Analysis</dc:title>
  <dc:subject>PptxGenJS Presentation</dc:subject>
  <dc:creator>Peter Okomesi</dc:creator>
  <cp:lastModifiedBy>USER</cp:lastModifiedBy>
  <cp:revision>1</cp:revision>
  <dcterms:created xsi:type="dcterms:W3CDTF">2026-06-08T08:36:58Z</dcterms:created>
  <dcterms:modified xsi:type="dcterms:W3CDTF">2026-06-08T08:38:51Z</dcterms:modified>
</cp:coreProperties>
</file>